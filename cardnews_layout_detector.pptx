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mAP@50-95</c:v>
                </c:pt>
              </c:strCache>
            </c:strRef>
          </c:tx>
          <c:dPt>
            <c:idx val="0"/>
            <c:spPr>
              <a:solidFill>
                <a:srgbClr val="B8C0D8"/>
              </a:solidFill>
            </c:spPr>
          </c:dPt>
          <c:dPt>
            <c:idx val="1"/>
            <c:spPr>
              <a:solidFill>
                <a:srgbClr val="6C8CFF"/>
              </a:solidFill>
            </c:spPr>
          </c:dPt>
          <c:dPt>
            <c:idx val="2"/>
            <c:spPr>
              <a:solidFill>
                <a:srgbClr val="16C08E"/>
              </a:solidFill>
            </c:spPr>
          </c:dPt>
          <c:dPt>
            <c:idx val="3"/>
            <c:spPr>
              <a:solidFill>
                <a:srgbClr val="F5A623"/>
              </a:solidFill>
            </c:spPr>
          </c:dPt>
          <c:dPt>
            <c:idx val="4"/>
            <c:spPr>
              <a:solidFill>
                <a:srgbClr val="FF5C7A"/>
              </a:solidFill>
            </c:spPr>
          </c:dPt>
          <c:cat>
            <c:strRef>
              <c:f>Sheet1!$A$2:$A$6</c:f>
              <c:strCache>
                <c:ptCount val="5"/>
                <c:pt idx="0">
                  <c:v>Scratch
(전이학습X)</c:v>
                </c:pt>
                <c:pt idx="1">
                  <c:v>Baseline
YOLOv8n</c:v>
                </c:pt>
                <c:pt idx="2">
                  <c:v>+ Card Aug</c:v>
                </c:pt>
                <c:pt idx="3">
                  <c:v>YOLOv8s</c:v>
                </c:pt>
                <c:pt idx="4">
                  <c:v>Best
(e15·300ep)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0.502</c:v>
                </c:pt>
                <c:pt idx="1">
                  <c:v>0.662</c:v>
                </c:pt>
                <c:pt idx="2">
                  <c:v>0.696</c:v>
                </c:pt>
                <c:pt idx="3">
                  <c:v>0.705</c:v>
                </c:pt>
                <c:pt idx="4">
                  <c:v>0.718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>
                  <a:solidFill>
                    <a:srgbClr val="1A1F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6E6"/>
            </a:solidFill>
          </a:ln>
        </c:spPr>
        <c:txPr>
          <a:bodyPr/>
          <a:lstStyle/>
          <a:p>
            <a:pPr>
              <a:defRPr sz="1000">
                <a:solidFill>
                  <a:srgbClr val="606A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Gridlines>
          <c:spPr>
            <a:ln w="6350">
              <a:solidFill>
                <a:srgbClr val="ECEFF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4F6FC"/>
                </a:solidFill>
                <a:latin typeface="Malgun Gothic"/>
              </a:rPr>
              <a:t>레퍼런스 기반 </a:t>
            </a:r>
            <a:r>
              <a:rPr sz="3800" b="1">
                <a:solidFill>
                  <a:srgbClr val="FF5C7A"/>
                </a:solidFill>
                <a:latin typeface="Malgun Gothic"/>
              </a:rPr>
              <a:t>한국어 카드뉴스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4F6FC"/>
                </a:solidFill>
                <a:latin typeface="Malgun Gothic"/>
              </a:rPr>
              <a:t>레이아웃 인식 </a:t>
            </a:r>
            <a:r>
              <a:rPr sz="3800" b="1">
                <a:solidFill>
                  <a:srgbClr val="F5A623"/>
                </a:solidFill>
                <a:latin typeface="Malgun Gothic"/>
              </a:rPr>
              <a:t>&amp; 콘텐츠 치환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A9B0CC"/>
                </a:solidFill>
                <a:latin typeface="Malgun Gothic"/>
              </a:rPr>
              <a:t>레퍼런스 카드의 '형식'을 AI로 정확히 인식해,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A9B0CC"/>
                </a:solidFill>
                <a:latin typeface="Malgun Gothic"/>
              </a:rPr>
              <a:t>같은 포맷에 내 제품 콘텐츠만 바꿔 끼우는 디자인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4F6FC"/>
                </a:solidFill>
                <a:latin typeface="Malgun Gothic"/>
              </a:rPr>
              <a:t>Computer Vision 학기 프로젝트</a:t>
            </a:r>
            <a:r>
              <a:rPr sz="1500" b="0">
                <a:solidFill>
                  <a:srgbClr val="A9B0CC"/>
                </a:solidFill>
                <a:latin typeface="Malgun Gothic"/>
              </a:rPr>
              <a:t>   ·   YOLOv8 전이학습 + 소규모 데이터 ablation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9B0CC"/>
                </a:solidFill>
                <a:latin typeface="Malgun Gothic"/>
              </a:rPr>
              <a:t>iluv4   ·   2026-06-16   ·   github.com/iluv4/cardnews-cv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16052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6C08E"/>
                </a:solidFill>
                <a:latin typeface="Malgun Gothic"/>
              </a:rPr>
              <a:t>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7548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A9B0CC"/>
                </a:solidFill>
                <a:latin typeface="Malgun Gothic"/>
              </a:rPr>
              <a:t>mAP@50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16052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5A623"/>
                </a:solidFill>
                <a:latin typeface="Malgun Gothic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7548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A9B0CC"/>
                </a:solidFill>
                <a:latin typeface="Malgun Gothic"/>
              </a:rPr>
              <a:t>실험 (ablation)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416052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5C7A"/>
                </a:solidFill>
                <a:latin typeface="Malgun Gothic"/>
              </a:rPr>
              <a:t>5-fold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47548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A9B0CC"/>
                </a:solidFill>
                <a:latin typeface="Malgun Gothic"/>
              </a:rPr>
              <a:t>교차검증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A1F3D"/>
                </a:solidFill>
                <a:latin typeface="Malgun Gothic"/>
              </a:rPr>
              <a:t>문제 &amp;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06A8C"/>
                </a:solidFill>
                <a:latin typeface="Malgun Gothic"/>
              </a:rPr>
              <a:t>잘 만든 카드뉴스의 </a:t>
            </a:r>
            <a:r>
              <a:rPr sz="1600" b="1">
                <a:solidFill>
                  <a:srgbClr val="FF5C7A"/>
                </a:solidFill>
                <a:latin typeface="Malgun Gothic"/>
              </a:rPr>
              <a:t>'형식'을 재활용</a:t>
            </a:r>
            <a:r>
              <a:rPr sz="1600" b="0">
                <a:solidFill>
                  <a:srgbClr val="606A8C"/>
                </a:solidFill>
                <a:latin typeface="Malgun Gothic"/>
              </a:rPr>
              <a:t> 하고 싶다 — 매번 새로 디자인하지 않고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074920" cy="4206240"/>
          </a:xfrm>
          <a:prstGeom prst="round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A1F3D"/>
                </a:solidFill>
                <a:latin typeface="Malgun Gothic"/>
              </a:rPr>
              <a:t>기존 방식의 한계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880360"/>
            <a:ext cx="310896" cy="310896"/>
          </a:xfrm>
          <a:prstGeom prst="round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843784"/>
            <a:ext cx="4069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3D"/>
                </a:solidFill>
                <a:latin typeface="Malgun Gothic"/>
              </a:rPr>
              <a:t>카드뉴스 한 장마다 레이아웃을 수작업으로 배치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49039"/>
            <a:ext cx="310896" cy="310896"/>
          </a:xfrm>
          <a:prstGeom prst="round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3712463"/>
            <a:ext cx="4069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3D"/>
                </a:solidFill>
                <a:latin typeface="Malgun Gothic"/>
              </a:rPr>
              <a:t>잘 나온 레퍼런스가 있어도 그대로 못 가져옴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617720"/>
            <a:ext cx="310896" cy="310896"/>
          </a:xfrm>
          <a:prstGeom prst="round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4581144"/>
            <a:ext cx="4069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F3D"/>
                </a:solidFill>
                <a:latin typeface="Malgun Gothic"/>
              </a:rPr>
              <a:t>LLM 배치는 위치가 들쭉날쭉, 디자인 일관성 부족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120640" cy="4206240"/>
          </a:xfrm>
          <a:prstGeom prst="roundRect">
            <a:avLst/>
          </a:prstGeom>
          <a:solidFill>
            <a:srgbClr val="14182E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4F6FC"/>
                </a:solidFill>
                <a:latin typeface="Malgun Gothic"/>
              </a:rPr>
              <a:t>이 프로젝트의 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C08E"/>
                </a:solidFill>
                <a:latin typeface="Malgun Gothic"/>
              </a:rPr>
              <a:t>① 레이아웃 정확 인식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1012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A9B0CC"/>
                </a:solidFill>
                <a:latin typeface="Malgun Gothic"/>
              </a:rPr>
              <a:t>레퍼런스에서 제목·본문·로고·장식 위치를 검출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776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A623"/>
                </a:solidFill>
                <a:latin typeface="Malgun Gothic"/>
              </a:rPr>
              <a:t>② 포맷 유지 + 콘텐츠 치환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6168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A9B0CC"/>
                </a:solidFill>
                <a:latin typeface="Malgun Gothic"/>
              </a:rPr>
              <a:t>같은 구도에 '내 제품' 텍스트/이미지만 교체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2920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5C7A"/>
                </a:solidFill>
                <a:latin typeface="Malgun Gothic"/>
              </a:rPr>
              <a:t>→ 디자인 자동화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41324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A9B0CC"/>
                </a:solidFill>
                <a:latin typeface="Malgun Gothic"/>
              </a:rPr>
              <a:t>레퍼런스를 템플릿처럼 재사용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A1F3D"/>
                </a:solidFill>
                <a:latin typeface="Malgun Gothic"/>
              </a:rPr>
              <a:t>접근: 핵심은 </a:t>
            </a:r>
            <a:r>
              <a:rPr sz="3200" b="1">
                <a:solidFill>
                  <a:srgbClr val="FF5C7A"/>
                </a:solidFill>
                <a:latin typeface="Malgun Gothic"/>
              </a:rPr>
              <a:t>딥러닝 검출 모델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06A8C"/>
                </a:solidFill>
                <a:latin typeface="Malgun Gothic"/>
              </a:rPr>
              <a:t>'레이아웃 인식' = 4개 요소를 검출·분류하는 object detection 문제로 정식화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8992" y="2286000"/>
            <a:ext cx="146304" cy="146304"/>
          </a:xfrm>
          <a:prstGeom prst="round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21284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F3D"/>
                </a:solidFill>
                <a:latin typeface="Malgun Gothic"/>
              </a:rPr>
              <a:t>제목 /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7432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06A8C"/>
                </a:solidFill>
                <a:latin typeface="Malgun Gothic"/>
              </a:rPr>
              <a:t>큰 헤드라인 텍스트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201168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9624" y="2286000"/>
            <a:ext cx="146304" cy="146304"/>
          </a:xfrm>
          <a:prstGeom prst="roundRect">
            <a:avLst/>
          </a:prstGeom>
          <a:solidFill>
            <a:srgbClr val="16C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2" y="221284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F3D"/>
                </a:solidFill>
                <a:latin typeface="Malgun Gothic"/>
              </a:rPr>
              <a:t>본문 / body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27432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06A8C"/>
                </a:solidFill>
                <a:latin typeface="Malgun Gothic"/>
              </a:rPr>
              <a:t>설명·캡션 텍스트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201168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0256" y="2286000"/>
            <a:ext cx="146304" cy="14630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7144" y="221284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F3D"/>
                </a:solidFill>
                <a:latin typeface="Malgun Gothic"/>
              </a:rPr>
              <a:t>로고 / logo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27432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06A8C"/>
                </a:solidFill>
                <a:latin typeface="Malgun Gothic"/>
              </a:rPr>
              <a:t>브랜드 마크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201168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90888" y="2286000"/>
            <a:ext cx="146304" cy="146304"/>
          </a:xfrm>
          <a:prstGeom prst="round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37776" y="221284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F3D"/>
                </a:solidFill>
                <a:latin typeface="Malgun Gothic"/>
              </a:rPr>
              <a:t>장식 / underlay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7432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06A8C"/>
                </a:solidFill>
                <a:latin typeface="Malgun Gothic"/>
              </a:rPr>
              <a:t>배경 박스·강조 도형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F3D"/>
                </a:solidFill>
                <a:latin typeface="Malgun Gothic"/>
              </a:rPr>
              <a:t>이 과정에서 다루는 CV 기법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26280"/>
            <a:ext cx="3429000" cy="594360"/>
          </a:xfrm>
          <a:prstGeom prst="round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526280"/>
            <a:ext cx="3063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F3D"/>
                </a:solidFill>
                <a:latin typeface="Malgun Gothic"/>
              </a:rPr>
              <a:t>전이학습 (pretrained → fine-tune)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526280"/>
            <a:ext cx="3429000" cy="594360"/>
          </a:xfrm>
          <a:prstGeom prst="round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526280"/>
            <a:ext cx="3063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F3D"/>
                </a:solidFill>
                <a:latin typeface="Malgun Gothic"/>
              </a:rPr>
              <a:t>객체 검출 / 바운딩박스 회귀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526280"/>
            <a:ext cx="3429000" cy="594360"/>
          </a:xfrm>
          <a:prstGeom prst="round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526280"/>
            <a:ext cx="3063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F3D"/>
                </a:solidFill>
                <a:latin typeface="Malgun Gothic"/>
              </a:rPr>
              <a:t>데이터 증강 (augmentation)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303520"/>
            <a:ext cx="3429000" cy="594360"/>
          </a:xfrm>
          <a:prstGeom prst="round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303520"/>
            <a:ext cx="3063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F3D"/>
                </a:solidFill>
                <a:latin typeface="Malgun Gothic"/>
              </a:rPr>
              <a:t>mAP 평가지표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5303520"/>
            <a:ext cx="3429000" cy="594360"/>
          </a:xfrm>
          <a:prstGeom prst="round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5303520"/>
            <a:ext cx="3063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F3D"/>
                </a:solidFill>
                <a:latin typeface="Malgun Gothic"/>
              </a:rPr>
              <a:t>k-fold 교차검증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5303520"/>
            <a:ext cx="3429000" cy="594360"/>
          </a:xfrm>
          <a:prstGeom prst="round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5303520"/>
            <a:ext cx="3063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F3D"/>
                </a:solidFill>
                <a:latin typeface="Malgun Gothic"/>
              </a:rPr>
              <a:t>하이퍼파라미터 ablation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A1F3D"/>
                </a:solidFill>
                <a:latin typeface="Malgun Gothic"/>
              </a:rPr>
              <a:t>데이터 &amp; 라벨링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06A8C"/>
                </a:solidFill>
                <a:latin typeface="Malgun Gothic"/>
              </a:rPr>
              <a:t>한국어 인스타 카드뉴스를 직접 수집하고,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06A8C"/>
                </a:solidFill>
                <a:latin typeface="Malgun Gothic"/>
              </a:rPr>
              <a:t>EasyOCR로 </a:t>
            </a:r>
            <a:r>
              <a:rPr sz="1500" b="1">
                <a:solidFill>
                  <a:srgbClr val="FF5C7A"/>
                </a:solidFill>
                <a:latin typeface="Malgun Gothic"/>
              </a:rPr>
              <a:t>의사 라벨(pseudo-label)</a:t>
            </a:r>
            <a:r>
              <a:rPr sz="1500" b="0">
                <a:solidFill>
                  <a:srgbClr val="606A8C"/>
                </a:solidFill>
                <a:latin typeface="Malgun Gothic"/>
              </a:rPr>
              <a:t>을 만들어 YOLO 형식으로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C08E"/>
                </a:solidFill>
                <a:latin typeface="Malgun Gothic"/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578608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3D"/>
                </a:solidFill>
                <a:latin typeface="Malgun Gothic"/>
              </a:rPr>
              <a:t>수집한 카드 이미지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5A623"/>
                </a:solidFill>
                <a:latin typeface="Malgun Gothic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721608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3D"/>
                </a:solidFill>
                <a:latin typeface="Malgun Gothic"/>
              </a:rPr>
              <a:t>검출 클래스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5C7A"/>
                </a:solidFill>
                <a:latin typeface="Malgun Gothic"/>
              </a:rPr>
              <a:t>925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864608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3D"/>
                </a:solidFill>
                <a:latin typeface="Malgun Gothic"/>
              </a:rPr>
              <a:t>자동 생성 박스 (제목284·본문641)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234440"/>
            <a:ext cx="4069080" cy="5074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600200"/>
            <a:ext cx="4023360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5806440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06A8C"/>
                </a:solidFill>
                <a:latin typeface="Malgun Gothic"/>
              </a:rPr>
              <a:t>자동 라벨 예시 — 빨강=제목, 초록=본문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4F6FC"/>
                </a:solidFill>
                <a:latin typeface="Malgun Gothic"/>
              </a:rPr>
              <a:t>결과 — </a:t>
            </a:r>
            <a:r>
              <a:rPr sz="3200" b="1">
                <a:solidFill>
                  <a:srgbClr val="16C08E"/>
                </a:solidFill>
                <a:latin typeface="Malgun Gothic"/>
              </a:rPr>
              <a:t>실제로 인식한다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9B0CC"/>
                </a:solidFill>
                <a:latin typeface="Malgun Gothic"/>
              </a:rPr>
              <a:t>최고 모델 </a:t>
            </a:r>
            <a:r>
              <a:rPr sz="1500" b="1">
                <a:solidFill>
                  <a:srgbClr val="F5A623"/>
                </a:solidFill>
                <a:latin typeface="Malgun Gothic"/>
              </a:rPr>
              <a:t>e15_long300_card</a:t>
            </a:r>
            <a:r>
              <a:rPr sz="1500" b="0">
                <a:solidFill>
                  <a:srgbClr val="A9B0CC"/>
                </a:solidFill>
                <a:latin typeface="Malgun Gothic"/>
              </a:rPr>
              <a:t> (YOLOv8n, 300 epochs)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6C08E"/>
                </a:solidFill>
                <a:latin typeface="Malgun Gothic"/>
              </a:rPr>
              <a:t>0.854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9B0CC"/>
                </a:solidFill>
                <a:latin typeface="Malgun Gothic"/>
              </a:rPr>
              <a:t>mAP@50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5C7A"/>
                </a:solidFill>
                <a:latin typeface="Malgun Gothic"/>
              </a:rPr>
              <a:t>0.718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9B0CC"/>
                </a:solidFill>
                <a:latin typeface="Malgun Gothic"/>
              </a:rPr>
              <a:t>mAP@50-95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5A623"/>
                </a:solidFill>
                <a:latin typeface="Malgun Gothic"/>
              </a:rPr>
              <a:t>0.785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9B0CC"/>
                </a:solidFill>
                <a:latin typeface="Malgun Gothic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C8CFF"/>
                </a:solidFill>
                <a:latin typeface="Malgun Gothic"/>
              </a:rPr>
              <a:t>0.842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9B0CC"/>
                </a:solidFill>
                <a:latin typeface="Malgun Gothic"/>
              </a:rP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783080"/>
            <a:ext cx="6812280" cy="4526280"/>
          </a:xfrm>
          <a:prstGeom prst="roundRect">
            <a:avLst/>
          </a:prstGeom>
          <a:solidFill>
            <a:srgbClr val="1F2545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al_batch0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4069080" cy="4069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52560" y="2194560"/>
            <a:ext cx="21945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4F6FC"/>
                </a:solidFill>
                <a:latin typeface="Malgun Gothic"/>
              </a:rPr>
              <a:t>검증셋 예측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4F6FC"/>
                </a:solidFill>
                <a:latin typeface="Malgun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9B0CC"/>
                </a:solidFill>
                <a:latin typeface="Malgun Gothic"/>
              </a:rPr>
              <a:t>처음 보는 카드에서도 제목·본문 영역을 정확히 박스로 검출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A1F3D"/>
                </a:solidFill>
                <a:latin typeface="Malgun Gothic"/>
              </a:rPr>
              <a:t>Ablation — </a:t>
            </a:r>
            <a:r>
              <a:rPr sz="3200" b="1">
                <a:solidFill>
                  <a:srgbClr val="FF5C7A"/>
                </a:solidFill>
                <a:latin typeface="Malgun Gothic"/>
              </a:rPr>
              <a:t>무엇이 성능을 올렸나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06A8C"/>
                </a:solidFill>
                <a:latin typeface="Malgun Gothic"/>
              </a:rPr>
              <a:t>24개 실험을 비교 (mAP@50-95 기준)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965960"/>
          <a:ext cx="6400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965960"/>
            <a:ext cx="3886200" cy="4297680"/>
          </a:xfrm>
          <a:prstGeom prst="roundRect">
            <a:avLst/>
          </a:prstGeom>
          <a:solidFill>
            <a:srgbClr val="14182E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2240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4F6FC"/>
                </a:solidFill>
                <a:latin typeface="Malgun Gothic"/>
              </a:rPr>
              <a:t>핵심 발견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834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C08E"/>
                </a:solidFill>
                <a:latin typeface="Malgun Gothic"/>
              </a:rPr>
              <a:t>• </a:t>
            </a:r>
            <a:r>
              <a:rPr sz="1350" b="1">
                <a:solidFill>
                  <a:srgbClr val="F4F6FC"/>
                </a:solidFill>
                <a:latin typeface="Malgun Gothic"/>
              </a:rPr>
              <a:t>전이학습이 결정적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16382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0CC"/>
                </a:solidFill>
                <a:latin typeface="Malgun Gothic"/>
              </a:rPr>
              <a:t>scratch 0.50 → fine-tune 0.72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67588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Malgun Gothic"/>
              </a:rPr>
              <a:t>• </a:t>
            </a:r>
            <a:r>
              <a:rPr sz="1350" b="1">
                <a:solidFill>
                  <a:srgbClr val="F4F6FC"/>
                </a:solidFill>
                <a:latin typeface="Malgun Gothic"/>
              </a:rPr>
              <a:t>카드 특화 증강 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00507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0CC"/>
                </a:solidFill>
                <a:latin typeface="Malgun Gothic"/>
              </a:rPr>
              <a:t>card aug로 +0.03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517136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C8CFF"/>
                </a:solidFill>
                <a:latin typeface="Malgun Gothic"/>
              </a:rPr>
              <a:t>• </a:t>
            </a:r>
            <a:r>
              <a:rPr sz="1350" b="1">
                <a:solidFill>
                  <a:srgbClr val="F4F6FC"/>
                </a:solidFill>
                <a:latin typeface="Malgun Gothic"/>
              </a:rPr>
              <a:t>YOLOv8s ≥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8463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0CC"/>
                </a:solidFill>
                <a:latin typeface="Malgun Gothic"/>
              </a:rPr>
              <a:t>조금 더 크면 소폭 향상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358384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5C7A"/>
                </a:solidFill>
                <a:latin typeface="Malgun Gothic"/>
              </a:rPr>
              <a:t>• </a:t>
            </a:r>
            <a:r>
              <a:rPr sz="1350" b="1">
                <a:solidFill>
                  <a:srgbClr val="F4F6FC"/>
                </a:solidFill>
                <a:latin typeface="Malgun Gothic"/>
              </a:rPr>
              <a:t>길게 학습 + 증강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6875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0CC"/>
                </a:solidFill>
                <a:latin typeface="Malgun Gothic"/>
              </a:rPr>
              <a:t>300ep가 최고 성능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A1F3D"/>
                </a:solidFill>
                <a:latin typeface="Malgun Gothic"/>
              </a:rPr>
              <a:t>신뢰성 — 학습 곡선 &amp; 교차검증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06A8C"/>
                </a:solidFill>
                <a:latin typeface="Malgun Gothic"/>
              </a:rPr>
              <a:t>과적합 없이 수렴, 그리고 5-fold로 일반화 성능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6949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86000"/>
            <a:ext cx="649224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692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06A8C"/>
                </a:solidFill>
                <a:latin typeface="Malgun Gothic"/>
              </a:rPr>
              <a:t>학습 곡선 (e15, 300 epochs) — loss 감소, mAP 안정 수렴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920240"/>
            <a:ext cx="3383280" cy="3657600"/>
          </a:xfrm>
          <a:prstGeom prst="round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F3D"/>
                </a:solidFill>
                <a:latin typeface="Malgun Gothic"/>
              </a:rPr>
              <a:t>5-fold 교차검증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43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C08E"/>
                </a:solidFill>
                <a:latin typeface="Malgun Gothic"/>
              </a:rPr>
              <a:t>0.61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06A8C"/>
                </a:solidFill>
                <a:latin typeface="Malgun Gothic"/>
              </a:rPr>
              <a:t>평균 mAP@50-95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8404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3D"/>
                </a:solidFill>
                <a:latin typeface="Malgun Gothic"/>
              </a:rPr>
              <a:t>표준편차 ±0.05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1A1F3D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06A8C"/>
                </a:solidFill>
                <a:latin typeface="Malgun Gothic"/>
              </a:rPr>
              <a:t>폴드별: 0.65 / 0.57 / 0.68 / 0.60 / 0.55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1A1F3D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F3D"/>
                </a:solidFill>
                <a:latin typeface="Malgun Gothic"/>
              </a:rPr>
              <a:t>→ 109장 소규모치고 안정적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4F6FC"/>
                </a:solidFill>
                <a:latin typeface="Malgun Gothic"/>
              </a:rPr>
              <a:t>현재 상태 &amp; 다음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120640" cy="4572000"/>
          </a:xfrm>
          <a:prstGeom prst="roundRect">
            <a:avLst/>
          </a:prstGeom>
          <a:solidFill>
            <a:srgbClr val="1F2545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C08E"/>
                </a:solidFill>
                <a:latin typeface="Malgun Gothic"/>
              </a:rPr>
              <a:t>✓ 완료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423160"/>
            <a:ext cx="310896" cy="310896"/>
          </a:xfrm>
          <a:prstGeom prst="roundRect">
            <a:avLst/>
          </a:prstGeom>
          <a:solidFill>
            <a:srgbClr val="16C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37744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6FC"/>
                </a:solidFill>
                <a:latin typeface="Malgun Gothic"/>
              </a:rPr>
              <a:t>한국어 카드 109장 수집 + 자동 라벨링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154680"/>
            <a:ext cx="310896" cy="310896"/>
          </a:xfrm>
          <a:prstGeom prst="roundRect">
            <a:avLst/>
          </a:prstGeom>
          <a:solidFill>
            <a:srgbClr val="16C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310896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6FC"/>
                </a:solidFill>
                <a:latin typeface="Malgun Gothic"/>
              </a:rPr>
              <a:t>YOLOv8 전이학습 — 24개 실험 ablation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886200"/>
            <a:ext cx="310896" cy="310896"/>
          </a:xfrm>
          <a:prstGeom prst="roundRect">
            <a:avLst/>
          </a:prstGeom>
          <a:solidFill>
            <a:srgbClr val="16C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384048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6FC"/>
                </a:solidFill>
                <a:latin typeface="Malgun Gothic"/>
              </a:rPr>
              <a:t>최고 모델 mAP@50 0.85 / mAP@50-95 0.72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617720"/>
            <a:ext cx="310896" cy="310896"/>
          </a:xfrm>
          <a:prstGeom prst="roundRect">
            <a:avLst/>
          </a:prstGeom>
          <a:solidFill>
            <a:srgbClr val="16C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457200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6FC"/>
                </a:solidFill>
                <a:latin typeface="Malgun Gothic"/>
              </a:rPr>
              <a:t>5-fold 교차검증으로 일반화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349240"/>
            <a:ext cx="310896" cy="310896"/>
          </a:xfrm>
          <a:prstGeom prst="roundRect">
            <a:avLst/>
          </a:prstGeom>
          <a:solidFill>
            <a:srgbClr val="16C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530352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6FC"/>
                </a:solidFill>
                <a:latin typeface="Malgun Gothic"/>
              </a:rPr>
              <a:t>재현 가능한 코드 + best.pt 공개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5120640" cy="4572000"/>
          </a:xfrm>
          <a:prstGeom prst="roundRect">
            <a:avLst/>
          </a:prstGeom>
          <a:solidFill>
            <a:srgbClr val="1F2545"/>
          </a:solidFill>
          <a:ln>
            <a:noFill/>
          </a:ln>
          <a:effectLst>
            <a:outerShdw blurRad="90000" dist="38100" dir="5400000" rotWithShape="0">
              <a:srgbClr val="1A1F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5A623"/>
                </a:solidFill>
                <a:latin typeface="Malgun Gothic"/>
              </a:rPr>
              <a:t>→ 다음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423160"/>
            <a:ext cx="310896" cy="310896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237744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4F6FC"/>
                </a:solidFill>
                <a:latin typeface="Malgun Gothic"/>
              </a:rPr>
              <a:t>콘텐츠 자동 치환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7889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0CC"/>
                </a:solidFill>
                <a:latin typeface="Malgun Gothic"/>
              </a:rPr>
              <a:t>인식한 레이아웃에 내 제품 텍스트/이미지 배치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337560"/>
            <a:ext cx="310896" cy="310896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29184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4F6FC"/>
                </a:solidFill>
                <a:latin typeface="Malgun Gothic"/>
              </a:rPr>
              <a:t>로고·장식 수동 라벨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7033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0CC"/>
                </a:solidFill>
                <a:latin typeface="Malgun Gothic"/>
              </a:rPr>
              <a:t>현재 제목·본문만 → 4클래스 완성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251960"/>
            <a:ext cx="310896" cy="310896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420624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4F6FC"/>
                </a:solidFill>
                <a:latin typeface="Malgun Gothic"/>
              </a:rPr>
              <a:t>데이터 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6177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0CC"/>
                </a:solidFill>
                <a:latin typeface="Malgun Gothic"/>
              </a:rPr>
              <a:t>109장 → 1,000장+ 로 정확도 향상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5166360"/>
            <a:ext cx="310896" cy="310896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512064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4F6FC"/>
                </a:solidFill>
                <a:latin typeface="Malgun Gothic"/>
              </a:rPr>
              <a:t>앱 통합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532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A9B0CC"/>
                </a:solidFill>
                <a:latin typeface="Malgun Gothic"/>
              </a:rPr>
              <a:t>레퍼런스 업로드 → 자동 카드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