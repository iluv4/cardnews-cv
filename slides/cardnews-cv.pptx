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Malgun Gothic"/>
              </a:rPr>
              <a:t>카드뉴스-CV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7889A"/>
                </a:solidFill>
                <a:latin typeface="Malgun Gothic"/>
              </a:rPr>
              <a:t>레퍼런스 검색 기반 한국어 카드뉴스 생성 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분석·검색 중심 ML  ·  결정적 렌더링 (GAN 픽셀 생성 X)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9DB3A7"/>
                </a:solidFill>
                <a:latin typeface="Malgun Gothic"/>
              </a:rPr>
              <a:t>검색 → 선택 → 레이아웃 복사 → 디자이너급 자동 채움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DB3A7"/>
                </a:solidFill>
                <a:latin typeface="Malgun Gothic"/>
              </a:rPr>
              <a:t>2026-06-18   ·   github.com/iluv4/cardnews-cv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CC8A0"/>
                </a:solidFill>
                <a:latin typeface="Malgun Gothic"/>
              </a:rPr>
              <a:t>문제 &amp; 인사이트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‘자동 생성’은 왜 ‘AI같아’ 보이는가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4983480" cy="4023360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4028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7889A"/>
                </a:solidFill>
                <a:latin typeface="Malgun Gothic"/>
              </a:rPr>
              <a:t>GAN · 디퓨전의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4297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한글 텍스트를 또렷하게 못 그림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결과가 불안정하고 통제 어려움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흔한 플랫 그라데이션 = ‘AI-tic’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920240"/>
            <a:ext cx="4983480" cy="4023360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24028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CC8A0"/>
                </a:solidFill>
                <a:latin typeface="Malgun Gothic"/>
              </a:rPr>
              <a:t>우리의 접근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17520"/>
            <a:ext cx="4297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ML은 분석(검출기) + 검색(레퍼런스)에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픽셀은 결정적 렌더링으로 또렷하게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실제 디자인 레퍼런스를 복사 → 디자이너급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CC8A0"/>
                </a:solidFill>
                <a:latin typeface="Malgun Gothic"/>
              </a:rPr>
              <a:t>시스템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파이프라인 — 손으로 짠 한 스타일이 아니다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606040" cy="2743200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468880"/>
            <a:ext cx="420624" cy="420624"/>
          </a:xfrm>
          <a:prstGeom prst="ellipse">
            <a:avLst/>
          </a:prstGeom>
          <a:solidFill>
            <a:srgbClr val="F78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2A0D14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1546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Malgun Gothic"/>
              </a:rPr>
              <a:t>검출기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749039"/>
            <a:ext cx="2057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레이아웃 이해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title·body·logo·underlay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0712" y="32004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F7889A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75888" y="2148840"/>
            <a:ext cx="2606040" cy="2743200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95928" y="2468880"/>
            <a:ext cx="420624" cy="420624"/>
          </a:xfrm>
          <a:prstGeom prst="ellipse">
            <a:avLst/>
          </a:prstGeom>
          <a:solidFill>
            <a:srgbClr val="F78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2A0D14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8496" y="31546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Malgun Gothic"/>
              </a:rPr>
              <a:t>레퍼런스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3749039"/>
            <a:ext cx="2057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의미·색·구조로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원하는 디자인 찾기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2004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F7889A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8816" y="2148840"/>
            <a:ext cx="2606040" cy="2743200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48856" y="2468880"/>
            <a:ext cx="420624" cy="420624"/>
          </a:xfrm>
          <a:prstGeom prst="ellipse">
            <a:avLst/>
          </a:prstGeom>
          <a:solidFill>
            <a:srgbClr val="F78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2A0D14"/>
                </a:solidFill>
                <a:latin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424" y="31546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Malgun Gothic"/>
              </a:rPr>
              <a:t>레이아웃 복사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3749039"/>
            <a:ext cx="2057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선택한 레퍼런스의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실제 구조를 추출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32004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F7889A"/>
                </a:solidFill>
                <a:latin typeface="Malgun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81744" y="2148840"/>
            <a:ext cx="2606040" cy="2743200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01784" y="2468880"/>
            <a:ext cx="420624" cy="420624"/>
          </a:xfrm>
          <a:prstGeom prst="ellipse">
            <a:avLst/>
          </a:prstGeom>
          <a:solidFill>
            <a:srgbClr val="F78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2A0D14"/>
                </a:solidFill>
                <a:latin typeface="Malgun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352" y="31546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Malgun Gothic"/>
              </a:rPr>
              <a:t>v2 렌더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3749039"/>
            <a:ext cx="2057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그 구조에 사용자 텍스트를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디자이너급으로 채움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CC8A0"/>
                </a:solidFill>
                <a:latin typeface="Malgun Gothic"/>
              </a:rPr>
              <a:t>→ 엔진 수 = 데이터셋 수: 레퍼런스마다 레이아웃 템플릿 (손코딩 아님)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CC8A0"/>
                </a:solidFill>
                <a:latin typeface="Malgun Gothic"/>
              </a:rPr>
              <a:t>기반 기술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레이아웃 검출기 — 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606040" cy="2103120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2240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7889A"/>
                </a:solidFill>
                <a:latin typeface="Malgun Gothic"/>
              </a:rPr>
              <a:t>0.718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mAP@50-95 (best)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8" y="2286000"/>
            <a:ext cx="2606040" cy="2103120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8768" y="2697480"/>
            <a:ext cx="2240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7889A"/>
                </a:solidFill>
                <a:latin typeface="Malgun Gothic"/>
              </a:rPr>
              <a:t>0.854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361188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mAP@50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8816" y="2286000"/>
            <a:ext cx="2606040" cy="2103120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2697480"/>
            <a:ext cx="2240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7889A"/>
                </a:solidFill>
                <a:latin typeface="Malgun Gothic"/>
              </a:rPr>
              <a:t>0.611±0.049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361188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5-fold CV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81744" y="2286000"/>
            <a:ext cx="2606040" cy="2103120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64624" y="2697480"/>
            <a:ext cx="2240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7889A"/>
                </a:solidFill>
                <a:latin typeface="Malgun Gothic"/>
              </a:rPr>
              <a:t>0.718 vs 0.502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64624" y="361188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전이학습 vs 스크래치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AF2EC"/>
                </a:solidFill>
                <a:latin typeface="Malgun Gothic"/>
              </a:rPr>
              <a:t>687장 (109 시드 + 578 신규, 66덱) · YOLO · imgsz 1280 · 전이학습 결정적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CC8A0"/>
                </a:solidFill>
                <a:latin typeface="Malgun Gothic"/>
              </a:rPr>
              <a:t>제품 · ML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레퍼런스 라이브러리 + 검색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buChar char="·"/>
            </a:pPr>
            <a:r>
              <a:rPr sz="1700" b="0" i="0">
                <a:solidFill>
                  <a:srgbClr val="EAF2EC"/>
                </a:solidFill>
                <a:latin typeface="Malgun Gothic"/>
              </a:rPr>
              <a:t>796장 인덱싱 — 팔레트·밝기·엣지·다크 + 파일메타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Char char="·"/>
            </a:pPr>
            <a:r>
              <a:rPr sz="1700" b="0" i="0">
                <a:solidFill>
                  <a:srgbClr val="EAF2EC"/>
                </a:solidFill>
                <a:latin typeface="Malgun Gothic"/>
              </a:rPr>
              <a:t>8개 시각 아키타입으로 클러스터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Char char="·"/>
            </a:pPr>
            <a:r>
              <a:rPr sz="1700" b="0" i="0">
                <a:solidFill>
                  <a:srgbClr val="EAF2EC"/>
                </a:solidFill>
                <a:latin typeface="Malgun Gothic"/>
              </a:rPr>
              <a:t>검색: 텍스트(주제)·색·필터(다크/표지/클러스터)·유사도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Char char="·"/>
            </a:pPr>
            <a:r>
              <a:rPr sz="1700" b="0" i="0">
                <a:solidFill>
                  <a:srgbClr val="EAF2EC"/>
                </a:solidFill>
                <a:latin typeface="Malgun Gothic"/>
              </a:rPr>
              <a:t>torch 없이 로컬 동작 — 지금 바로 검색 가능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Char char="·"/>
            </a:pPr>
            <a:r>
              <a:rPr sz="1700" b="0" i="0">
                <a:solidFill>
                  <a:srgbClr val="EAF2EC"/>
                </a:solidFill>
                <a:latin typeface="Malgun Gothic"/>
              </a:rPr>
              <a:t>CLIP 의미검색 + 검출기 태깅은 RunPod 훅으로 대기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87768" y="1709928"/>
            <a:ext cx="4169664" cy="4626864"/>
          </a:xfrm>
          <a:prstGeom prst="roundRect">
            <a:avLst/>
          </a:prstGeom>
          <a:solidFill>
            <a:srgbClr val="1E382C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653" y="1783080"/>
            <a:ext cx="3839893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62636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DB3A7"/>
                </a:solidFill>
                <a:latin typeface="Malgun Gothic"/>
              </a:rPr>
              <a:t>레퍼런스 코퍼스에서 추출한 레이아웃 템플릿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CC8A0"/>
                </a:solidFill>
                <a:latin typeface="Malgun Gothic"/>
              </a:rPr>
              <a:t>렌더 품질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실제 레퍼런스 디자인 언어를 맞추다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45720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buChar char="·"/>
            </a:pPr>
            <a:r>
              <a:rPr sz="1700" b="0" i="0">
                <a:solidFill>
                  <a:srgbClr val="EAF2EC"/>
                </a:solidFill>
                <a:latin typeface="Malgun Gothic"/>
              </a:rPr>
              <a:t>다크 배경 + 스캐터 데코 레이어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Char char="·"/>
            </a:pPr>
            <a:r>
              <a:rPr sz="1700" b="0" i="0">
                <a:solidFill>
                  <a:srgbClr val="EAF2EC"/>
                </a:solidFill>
                <a:latin typeface="Malgun Gothic"/>
              </a:rPr>
              <a:t>2톤 글로우 타이틀 + 키워드 강조 부제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Char char="·"/>
            </a:pPr>
            <a:r>
              <a:rPr sz="1700" b="0" i="0">
                <a:solidFill>
                  <a:srgbClr val="EAF2EC"/>
                </a:solidFill>
                <a:latin typeface="Malgun Gothic"/>
              </a:rPr>
              <a:t>화이트 라운드 패널 + 액센트 체크리스트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Char char="·"/>
            </a:pPr>
            <a:r>
              <a:rPr sz="1700" b="0" i="0">
                <a:solidFill>
                  <a:srgbClr val="EAF2EC"/>
                </a:solidFill>
                <a:latin typeface="Malgun Gothic"/>
              </a:rPr>
              <a:t>브랜드 · 페이지 · 마스코트 슬롯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CC8A0"/>
                </a:solidFill>
                <a:latin typeface="Malgun Gothic"/>
              </a:rPr>
              <a:t>‘AI같음’ 격차를 닫은 결정적 렌더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96128" y="1755648"/>
            <a:ext cx="3255264" cy="3255264"/>
          </a:xfrm>
          <a:prstGeom prst="roundRect">
            <a:avLst/>
          </a:prstGeom>
          <a:solidFill>
            <a:srgbClr val="1E382C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ck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3108960" cy="3108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42248" y="1755648"/>
            <a:ext cx="3255264" cy="3255264"/>
          </a:xfrm>
          <a:prstGeom prst="roundRect">
            <a:avLst/>
          </a:prstGeom>
          <a:solidFill>
            <a:srgbClr val="1E382C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ck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828800"/>
            <a:ext cx="310896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CC8A0"/>
                </a:solidFill>
                <a:latin typeface="Malgun Gothic"/>
              </a:rPr>
              <a:t>진짜 엔진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레이아웃 복사 → 사용자 텍스트 리필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1206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  <a:buChar char="·"/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선택 레퍼런스의 title·body 블록 + 팔레트 추출</a:t>
            </a:r>
          </a:p>
          <a:p>
            <a:pPr algn="l">
              <a:spcBef>
                <a:spcPts val="0"/>
              </a:spcBef>
              <a:spcAft>
                <a:spcPts val="1300"/>
              </a:spcAft>
              <a:buChar char="·"/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사용자 텍스트로 리필 (테마는 레퍼런스 색에서 합성)</a:t>
            </a:r>
          </a:p>
          <a:p>
            <a:pPr algn="l">
              <a:spcBef>
                <a:spcPts val="0"/>
              </a:spcBef>
              <a:spcAft>
                <a:spcPts val="1300"/>
              </a:spcAft>
              <a:buChar char="·"/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텍스트 길이가 달라도 패널 침범 방지 (clamp)</a:t>
            </a:r>
          </a:p>
          <a:p>
            <a:pPr algn="l">
              <a:spcBef>
                <a:spcPts val="0"/>
              </a:spcBef>
              <a:spcAft>
                <a:spcPts val="1300"/>
              </a:spcAft>
              <a:buChar char="·"/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템플릿 없으면 테마 폴백 — RunPod로 전 레퍼런스 확장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53328" y="1709928"/>
            <a:ext cx="2980944" cy="3712463"/>
          </a:xfrm>
          <a:prstGeom prst="roundRect">
            <a:avLst/>
          </a:prstGeom>
          <a:solidFill>
            <a:srgbClr val="1E382C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rom_ref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94510"/>
            <a:ext cx="2834640" cy="35433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070848" y="2258568"/>
            <a:ext cx="2889504" cy="1883664"/>
          </a:xfrm>
          <a:prstGeom prst="roundRect">
            <a:avLst/>
          </a:prstGeom>
          <a:solidFill>
            <a:srgbClr val="1E382C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ill_list_img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341241"/>
            <a:ext cx="2743200" cy="17183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0" y="4206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DB3A7"/>
                </a:solidFill>
                <a:latin typeface="Malgun Gothic"/>
              </a:rPr>
              <a:t>원본 | 리필 비교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CC8A0"/>
                </a:solidFill>
                <a:latin typeface="Malgun Gothic"/>
              </a:rPr>
              <a:t>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검색 → 선택 → 생성 → 내보내기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0515600" cy="841248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304288"/>
            <a:ext cx="914400" cy="438912"/>
          </a:xfrm>
          <a:prstGeom prst="roundRect">
            <a:avLst/>
          </a:prstGeom>
          <a:solidFill>
            <a:srgbClr val="2A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221991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AF2EC"/>
                </a:solidFill>
                <a:latin typeface="Consolas"/>
              </a:rPr>
              <a:t>/api/search · /similar · /clusters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49424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레퍼런스 검색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72384"/>
            <a:ext cx="10515600" cy="841248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3273552"/>
            <a:ext cx="914400" cy="438912"/>
          </a:xfrm>
          <a:prstGeom prst="roundRect">
            <a:avLst/>
          </a:prstGeom>
          <a:solidFill>
            <a:srgbClr val="2A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191256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AF2EC"/>
                </a:solidFill>
                <a:latin typeface="Consolas"/>
              </a:rPr>
              <a:t>/api/reference/{id}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218688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썸네일 제공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41648"/>
            <a:ext cx="10515600" cy="841248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4242816"/>
            <a:ext cx="914400" cy="438912"/>
          </a:xfrm>
          <a:prstGeom prst="roundRect">
            <a:avLst/>
          </a:prstGeom>
          <a:solidFill>
            <a:srgbClr val="2A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1605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AF2EC"/>
                </a:solidFill>
                <a:latin typeface="Consolas"/>
              </a:rPr>
              <a:t>/api/generate_from_ref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187952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선택 레퍼런스 레이아웃 복사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10912"/>
            <a:ext cx="10515600" cy="841248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5212080"/>
            <a:ext cx="914400" cy="438912"/>
          </a:xfrm>
          <a:prstGeom prst="roundRect">
            <a:avLst/>
          </a:prstGeom>
          <a:solidFill>
            <a:srgbClr val="2A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129784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AF2EC"/>
                </a:solidFill>
                <a:latin typeface="Consolas"/>
              </a:rPr>
              <a:t>/api/generate · /api/deck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5157216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DB3A7"/>
                </a:solidFill>
                <a:latin typeface="Malgun Gothic"/>
              </a:rPr>
              <a:t>단일 카드 PNG · 덱 ZIP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CC8A0"/>
                </a:solidFill>
                <a:latin typeface="Malgun Gothic"/>
              </a:rPr>
              <a:t>웹 UI · WCAG 2.1 AA 통과 — 키보드만으로 전 기능 사용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CC8A0"/>
                </a:solidFill>
                <a:latin typeface="Malgun Gothic"/>
              </a:rPr>
              <a:t>라이브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직접 보여드립니다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94560"/>
            <a:ext cx="420624" cy="420624"/>
          </a:xfrm>
          <a:prstGeom prst="ellipse">
            <a:avLst/>
          </a:prstGeom>
          <a:solidFill>
            <a:srgbClr val="F78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2A0D14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76272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EAF2EC"/>
                </a:solidFill>
                <a:latin typeface="Malgun Gothic"/>
              </a:rPr>
              <a:t>.\run_demo.ps1  →  http://127.0.0.1:8000/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063239"/>
            <a:ext cx="420624" cy="420624"/>
          </a:xfrm>
          <a:prstGeom prst="ellipse">
            <a:avLst/>
          </a:prstGeom>
          <a:solidFill>
            <a:srgbClr val="F78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2A0D14"/>
                </a:solidFill>
                <a:latin typeface="Malgun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044951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EAF2EC"/>
                </a:solidFill>
                <a:latin typeface="Malgun Gothic"/>
              </a:rPr>
              <a:t>‘smart farm’ 검색 → 초록 ‘레이아웃’ 배지 카드 선택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931920"/>
            <a:ext cx="420624" cy="420624"/>
          </a:xfrm>
          <a:prstGeom prst="ellipse">
            <a:avLst/>
          </a:prstGeom>
          <a:solidFill>
            <a:srgbClr val="F78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2A0D14"/>
                </a:solidFill>
                <a:latin typeface="Malgun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913632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EAF2EC"/>
                </a:solidFill>
                <a:latin typeface="Malgun Gothic"/>
              </a:rPr>
              <a:t>제목·체크리스트 채우고 [생성] 클릭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800600"/>
            <a:ext cx="420624" cy="420624"/>
          </a:xfrm>
          <a:prstGeom prst="ellipse">
            <a:avLst/>
          </a:prstGeom>
          <a:solidFill>
            <a:srgbClr val="F78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2A0D14"/>
                </a:solidFill>
                <a:latin typeface="Malgun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782312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EAF2EC"/>
                </a:solidFill>
                <a:latin typeface="Malgun Gothic"/>
              </a:rPr>
              <a:t>(옵션) 덱 전체를 ZIP으로 내보내기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9DB3A7"/>
                </a:solidFill>
                <a:latin typeface="Malgun Gothic"/>
              </a:rPr>
              <a:t>라이브가 막히면 폴백: service/out/ · gen_output/refill/ 의 미리 렌더된 결과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CC8A0"/>
                </a:solidFill>
                <a:latin typeface="Malgun Gothic"/>
              </a:rPr>
              <a:t>지금까지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무엇이 동작하나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67665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  <a:buChar char="·"/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검출기 mAP 0.718 · reflib 검색 796장 · 8 아키타입 클러스터</a:t>
            </a:r>
          </a:p>
          <a:p>
            <a:pPr algn="l">
              <a:spcBef>
                <a:spcPts val="0"/>
              </a:spcBef>
              <a:spcAft>
                <a:spcPts val="1300"/>
              </a:spcAft>
              <a:buChar char="·"/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엔진 v2 — 디자이너급 렌더 (레퍼런스 디자인 언어)</a:t>
            </a:r>
          </a:p>
          <a:p>
            <a:pPr algn="l">
              <a:spcBef>
                <a:spcPts val="0"/>
              </a:spcBef>
              <a:spcAft>
                <a:spcPts val="1300"/>
              </a:spcAft>
              <a:buChar char="·"/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레이아웃 복사 + 리필 — 95개 템플릿, 서비스에 연결</a:t>
            </a:r>
          </a:p>
          <a:p>
            <a:pPr algn="l">
              <a:spcBef>
                <a:spcPts val="0"/>
              </a:spcBef>
              <a:spcAft>
                <a:spcPts val="1300"/>
              </a:spcAft>
              <a:buChar char="·"/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FastAPI + 웹 UI + WCAG 2.1 AA</a:t>
            </a:r>
          </a:p>
          <a:p>
            <a:pPr algn="l">
              <a:spcBef>
                <a:spcPts val="0"/>
              </a:spcBef>
              <a:spcAft>
                <a:spcPts val="1300"/>
              </a:spcAft>
              <a:buChar char="·"/>
            </a:pPr>
            <a:r>
              <a:rPr sz="1600" b="0" i="0">
                <a:solidFill>
                  <a:srgbClr val="EAF2EC"/>
                </a:solidFill>
                <a:latin typeface="Malgun Gothic"/>
              </a:rPr>
              <a:t>전부 로컬 동작 · 커밋·푸시 완료 (main)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286000"/>
            <a:ext cx="3383280" cy="3017520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743200"/>
            <a:ext cx="30175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7889A"/>
                </a:solidFill>
                <a:latin typeface="Malgun Gothic"/>
              </a:rPr>
              <a:t>4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402336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DB3A7"/>
                </a:solidFill>
                <a:latin typeface="Malgun Gothic"/>
              </a:rPr>
              <a:t>로드맵 항목 완료
(남은 1개 = RunPod 패스)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CC8A0"/>
                </a:solidFill>
                <a:latin typeface="Malgun Gothic"/>
              </a:rPr>
              <a:t>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RunPod 한 패스로 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  <a:buChar char="·"/>
            </a:pPr>
            <a:r>
              <a:rPr sz="1800" b="0" i="0">
                <a:solidFill>
                  <a:srgbClr val="EAF2EC"/>
                </a:solidFill>
                <a:latin typeface="Malgun Gothic"/>
              </a:rPr>
              <a:t>검출기를 687장 전체에 실행 → 템플릿 확장 (테마 폴백이 사라짐)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buChar char="·"/>
            </a:pPr>
            <a:r>
              <a:rPr sz="1800" b="0" i="0">
                <a:solidFill>
                  <a:srgbClr val="EAF2EC"/>
                </a:solidFill>
                <a:latin typeface="Malgun Gothic"/>
              </a:rPr>
              <a:t>CLIP 임베딩 빌드 → 의미검색 ON (lexical → 의미 기반 자동 승격)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buChar char="·"/>
            </a:pPr>
            <a:r>
              <a:rPr sz="1800" b="0" i="0">
                <a:solidFill>
                  <a:srgbClr val="EAF2EC"/>
                </a:solidFill>
                <a:latin typeface="Malgun Gothic"/>
              </a:rPr>
              <a:t>명령 한 줄: reflib/embed_clip.py --build · reflib/tag_layout.py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29200"/>
            <a:ext cx="10515600" cy="1005840"/>
          </a:xfrm>
          <a:prstGeom prst="roundRect">
            <a:avLst/>
          </a:prstGeom>
          <a:solidFill>
            <a:srgbClr val="182D23"/>
          </a:solidFill>
          <a:ln w="1270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23036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5CC8A0"/>
                </a:solidFill>
                <a:latin typeface="Malgun Gothic"/>
              </a:rPr>
              <a:t>→ 검색한 어떤 레퍼런스든 실제 레이아웃을 복사하게 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49039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F7889A"/>
                </a:solidFill>
                <a:latin typeface="Malgun Gothic"/>
              </a:rPr>
              <a:t>카드뉴스-CV — 분석·검색 중심 한국어 카드뉴스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DB3A7"/>
                </a:solidFill>
                <a:latin typeface="Malgun Gothic"/>
              </a:rPr>
              <a:t>github.com/iluv4/cardnews-cv  ·  데모: .\run_demo.ps1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